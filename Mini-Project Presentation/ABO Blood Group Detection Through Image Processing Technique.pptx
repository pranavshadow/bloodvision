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ooper BT Light" charset="1" panose="0208050304030B020404"/>
      <p:regular r:id="rId19"/>
    </p:embeddedFont>
    <p:embeddedFont>
      <p:font typeface="Muli" charset="1" panose="00000500000000000000"/>
      <p:regular r:id="rId20"/>
    </p:embeddedFont>
    <p:embeddedFont>
      <p:font typeface="Muli Semi-Bold" charset="1" panose="000007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1802681" y="199212"/>
            <a:ext cx="10913239" cy="10814027"/>
          </a:xfrm>
          <a:custGeom>
            <a:avLst/>
            <a:gdLst/>
            <a:ahLst/>
            <a:cxnLst/>
            <a:rect r="r" b="b" t="t" l="l"/>
            <a:pathLst>
              <a:path h="10814027" w="10913239">
                <a:moveTo>
                  <a:pt x="0" y="0"/>
                </a:moveTo>
                <a:lnTo>
                  <a:pt x="10913238" y="0"/>
                </a:lnTo>
                <a:lnTo>
                  <a:pt x="10913238" y="10814027"/>
                </a:lnTo>
                <a:lnTo>
                  <a:pt x="0" y="108140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520394" cy="692453"/>
          </a:xfrm>
          <a:custGeom>
            <a:avLst/>
            <a:gdLst/>
            <a:ahLst/>
            <a:cxnLst/>
            <a:rect r="r" b="b" t="t" l="l"/>
            <a:pathLst>
              <a:path h="692453" w="520394">
                <a:moveTo>
                  <a:pt x="0" y="0"/>
                </a:moveTo>
                <a:lnTo>
                  <a:pt x="520394" y="0"/>
                </a:lnTo>
                <a:lnTo>
                  <a:pt x="520394" y="692453"/>
                </a:lnTo>
                <a:lnTo>
                  <a:pt x="0" y="692453"/>
                </a:lnTo>
                <a:lnTo>
                  <a:pt x="0" y="0"/>
                </a:lnTo>
                <a:close/>
              </a:path>
            </a:pathLst>
          </a:custGeom>
          <a:blipFill>
            <a:blip r:embed="rId4"/>
            <a:stretch>
              <a:fillRect l="0" t="0" r="0" b="-5181"/>
            </a:stretch>
          </a:blipFill>
        </p:spPr>
      </p:sp>
      <p:sp>
        <p:nvSpPr>
          <p:cNvPr name="TextBox 4" id="4"/>
          <p:cNvSpPr txBox="true"/>
          <p:nvPr/>
        </p:nvSpPr>
        <p:spPr>
          <a:xfrm rot="0">
            <a:off x="1028700" y="3317092"/>
            <a:ext cx="10773981" cy="2422858"/>
          </a:xfrm>
          <a:prstGeom prst="rect">
            <a:avLst/>
          </a:prstGeom>
        </p:spPr>
        <p:txBody>
          <a:bodyPr anchor="t" rtlCol="false" tIns="0" lIns="0" bIns="0" rIns="0">
            <a:spAutoFit/>
          </a:bodyPr>
          <a:lstStyle/>
          <a:p>
            <a:pPr algn="l">
              <a:lnSpc>
                <a:spcPts val="6376"/>
              </a:lnSpc>
            </a:pPr>
            <a:r>
              <a:rPr lang="en-US" sz="5313">
                <a:solidFill>
                  <a:srgbClr val="0D3330"/>
                </a:solidFill>
                <a:latin typeface="Cooper BT Light"/>
                <a:ea typeface="Cooper BT Light"/>
                <a:cs typeface="Cooper BT Light"/>
                <a:sym typeface="Cooper BT Light"/>
              </a:rPr>
              <a:t>ABO Blood Group Detection Through Image Processing Technique</a:t>
            </a:r>
          </a:p>
        </p:txBody>
      </p:sp>
      <p:sp>
        <p:nvSpPr>
          <p:cNvPr name="TextBox 5" id="5"/>
          <p:cNvSpPr txBox="true"/>
          <p:nvPr/>
        </p:nvSpPr>
        <p:spPr>
          <a:xfrm rot="0">
            <a:off x="1028700" y="8836659"/>
            <a:ext cx="9751135" cy="421641"/>
          </a:xfrm>
          <a:prstGeom prst="rect">
            <a:avLst/>
          </a:prstGeom>
        </p:spPr>
        <p:txBody>
          <a:bodyPr anchor="t" rtlCol="false" tIns="0" lIns="0" bIns="0" rIns="0">
            <a:spAutoFit/>
          </a:bodyPr>
          <a:lstStyle/>
          <a:p>
            <a:pPr algn="l">
              <a:lnSpc>
                <a:spcPts val="3564"/>
              </a:lnSpc>
            </a:pPr>
            <a:r>
              <a:rPr lang="en-US" sz="2299">
                <a:solidFill>
                  <a:srgbClr val="0D3330"/>
                </a:solidFill>
                <a:latin typeface="Muli"/>
                <a:ea typeface="Muli"/>
                <a:cs typeface="Muli"/>
                <a:sym typeface="Muli"/>
              </a:rPr>
              <a:t>Presented By : Palak Sharma &amp; Pranav Gupta</a:t>
            </a:r>
          </a:p>
        </p:txBody>
      </p:sp>
      <p:sp>
        <p:nvSpPr>
          <p:cNvPr name="TextBox 6" id="6"/>
          <p:cNvSpPr txBox="true"/>
          <p:nvPr/>
        </p:nvSpPr>
        <p:spPr>
          <a:xfrm rot="0">
            <a:off x="1727347" y="1005506"/>
            <a:ext cx="4234931" cy="620397"/>
          </a:xfrm>
          <a:prstGeom prst="rect">
            <a:avLst/>
          </a:prstGeom>
        </p:spPr>
        <p:txBody>
          <a:bodyPr anchor="t" rtlCol="false" tIns="0" lIns="0" bIns="0" rIns="0">
            <a:spAutoFit/>
          </a:bodyPr>
          <a:lstStyle/>
          <a:p>
            <a:pPr algn="l">
              <a:lnSpc>
                <a:spcPts val="5269"/>
              </a:lnSpc>
            </a:pPr>
            <a:r>
              <a:rPr lang="en-US" sz="3399">
                <a:solidFill>
                  <a:srgbClr val="0D3330"/>
                </a:solidFill>
                <a:latin typeface="Muli"/>
                <a:ea typeface="Muli"/>
                <a:cs typeface="Muli"/>
                <a:sym typeface="Muli"/>
              </a:rPr>
              <a:t>Mini Project (II Year)</a:t>
            </a:r>
          </a:p>
        </p:txBody>
      </p:sp>
      <p:sp>
        <p:nvSpPr>
          <p:cNvPr name="TextBox 7" id="7"/>
          <p:cNvSpPr txBox="true"/>
          <p:nvPr/>
        </p:nvSpPr>
        <p:spPr>
          <a:xfrm rot="0">
            <a:off x="1028700" y="8482106"/>
            <a:ext cx="4933578" cy="337389"/>
          </a:xfrm>
          <a:prstGeom prst="rect">
            <a:avLst/>
          </a:prstGeom>
        </p:spPr>
        <p:txBody>
          <a:bodyPr anchor="t" rtlCol="false" tIns="0" lIns="0" bIns="0" rIns="0">
            <a:spAutoFit/>
          </a:bodyPr>
          <a:lstStyle/>
          <a:p>
            <a:pPr algn="l">
              <a:lnSpc>
                <a:spcPts val="2849"/>
              </a:lnSpc>
            </a:pPr>
            <a:r>
              <a:rPr lang="en-US" sz="1838">
                <a:solidFill>
                  <a:srgbClr val="000000"/>
                </a:solidFill>
                <a:latin typeface="Muli"/>
                <a:ea typeface="Muli"/>
                <a:cs typeface="Muli"/>
                <a:sym typeface="Muli"/>
              </a:rPr>
              <a:t>Under the Supervision of Madhvi Gaur Ma’am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1147604" y="7313249"/>
            <a:ext cx="7788045" cy="4216734"/>
          </a:xfrm>
          <a:custGeom>
            <a:avLst/>
            <a:gdLst/>
            <a:ahLst/>
            <a:cxnLst/>
            <a:rect r="r" b="b" t="t" l="l"/>
            <a:pathLst>
              <a:path h="4216734" w="7788045">
                <a:moveTo>
                  <a:pt x="0" y="0"/>
                </a:moveTo>
                <a:lnTo>
                  <a:pt x="7788044" y="0"/>
                </a:lnTo>
                <a:lnTo>
                  <a:pt x="7788044" y="4216733"/>
                </a:lnTo>
                <a:lnTo>
                  <a:pt x="0" y="4216733"/>
                </a:lnTo>
                <a:lnTo>
                  <a:pt x="0" y="0"/>
                </a:lnTo>
                <a:close/>
              </a:path>
            </a:pathLst>
          </a:custGeom>
          <a:blipFill>
            <a:blip r:embed="rId2">
              <a:extLst>
                <a:ext uri="{96DAC541-7B7A-43D3-8B79-37D633B846F1}">
                  <asvg:svgBlip xmlns:asvg="http://schemas.microsoft.com/office/drawing/2016/SVG/main" r:embed="rId3"/>
                </a:ext>
              </a:extLst>
            </a:blip>
            <a:stretch>
              <a:fillRect l="0" t="0" r="0" b="-155230"/>
            </a:stretch>
          </a:blipFill>
        </p:spPr>
      </p:sp>
      <p:sp>
        <p:nvSpPr>
          <p:cNvPr name="TextBox 3" id="3"/>
          <p:cNvSpPr txBox="true"/>
          <p:nvPr/>
        </p:nvSpPr>
        <p:spPr>
          <a:xfrm rot="0">
            <a:off x="1028700" y="1485129"/>
            <a:ext cx="16230600"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Introduction</a:t>
            </a:r>
          </a:p>
        </p:txBody>
      </p:sp>
      <p:sp>
        <p:nvSpPr>
          <p:cNvPr name="TextBox 4" id="4"/>
          <p:cNvSpPr txBox="true"/>
          <p:nvPr/>
        </p:nvSpPr>
        <p:spPr>
          <a:xfrm rot="0">
            <a:off x="1028700" y="2625861"/>
            <a:ext cx="16230600" cy="4825365"/>
          </a:xfrm>
          <a:prstGeom prst="rect">
            <a:avLst/>
          </a:prstGeom>
        </p:spPr>
        <p:txBody>
          <a:bodyPr anchor="t" rtlCol="false" tIns="0" lIns="0" bIns="0" rIns="0">
            <a:spAutoFit/>
          </a:bodyPr>
          <a:lstStyle/>
          <a:p>
            <a:pPr algn="l">
              <a:lnSpc>
                <a:spcPts val="3600"/>
              </a:lnSpc>
            </a:pPr>
            <a:r>
              <a:rPr lang="en-US" sz="2400">
                <a:solidFill>
                  <a:srgbClr val="0D3330"/>
                </a:solidFill>
                <a:latin typeface="Muli"/>
                <a:ea typeface="Muli"/>
                <a:cs typeface="Muli"/>
                <a:sym typeface="Muli"/>
              </a:rPr>
              <a:t>Blood types were discovered by Austrian Karl Landsteiner </a:t>
            </a:r>
            <a:r>
              <a:rPr lang="en-US" sz="2400">
                <a:solidFill>
                  <a:srgbClr val="0D3330"/>
                </a:solidFill>
                <a:latin typeface="Muli"/>
                <a:ea typeface="Muli"/>
                <a:cs typeface="Muli"/>
                <a:sym typeface="Muli"/>
              </a:rPr>
              <a:t>in 1901. ABO blood group system and the Rh D blood</a:t>
            </a:r>
          </a:p>
          <a:p>
            <a:pPr algn="l">
              <a:lnSpc>
                <a:spcPts val="3450"/>
              </a:lnSpc>
            </a:pPr>
            <a:r>
              <a:rPr lang="en-US" sz="2300">
                <a:solidFill>
                  <a:srgbClr val="0D3330"/>
                </a:solidFill>
                <a:latin typeface="Muli"/>
                <a:ea typeface="Muli"/>
                <a:cs typeface="Muli"/>
                <a:sym typeface="Muli"/>
              </a:rPr>
              <a:t>group system are the most important blood group system used for determining blood group of a person and the test used for determining the blood group is blood typing. The blood groups are defined by the presence or absence of a specific antigen on the surface of a red blood cell. There are four ABO blood groups: A, B, AB and O. They refer to the presence of different antigens on the red blood cells and antibodies in the blood. Blood group O means you have neither antigen present on the surface of RBC and antibodies A and B in the blood, but blood group AB means you have both the A and B antigens present and no antibodies in the blood. Blood group A has antigen A present on the surface and antibody B in the blood, while blood group B has antigen B present on the surface and antibody A in the blood. Referring to Rh D blood group system, one more antigen called Rh D is involved while determining the blood group. If D antigen is present on the red blood cells of a person then he/she is Rh D positive, while one who does not have D antigen on the red blood cells is Rh negative.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5377128" y="2949277"/>
            <a:ext cx="7533743" cy="4999243"/>
          </a:xfrm>
          <a:custGeom>
            <a:avLst/>
            <a:gdLst/>
            <a:ahLst/>
            <a:cxnLst/>
            <a:rect r="r" b="b" t="t" l="l"/>
            <a:pathLst>
              <a:path h="4999243" w="7533743">
                <a:moveTo>
                  <a:pt x="0" y="0"/>
                </a:moveTo>
                <a:lnTo>
                  <a:pt x="7533744" y="0"/>
                </a:lnTo>
                <a:lnTo>
                  <a:pt x="7533744" y="4999243"/>
                </a:lnTo>
                <a:lnTo>
                  <a:pt x="0" y="4999243"/>
                </a:lnTo>
                <a:lnTo>
                  <a:pt x="0" y="0"/>
                </a:lnTo>
                <a:close/>
              </a:path>
            </a:pathLst>
          </a:custGeom>
          <a:blipFill>
            <a:blip r:embed="rId2"/>
            <a:stretch>
              <a:fillRect l="0" t="0" r="0" b="0"/>
            </a:stretch>
          </a:blipFill>
        </p:spPr>
      </p:sp>
      <p:sp>
        <p:nvSpPr>
          <p:cNvPr name="TextBox 3" id="3"/>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Proposed System</a:t>
            </a:r>
          </a:p>
        </p:txBody>
      </p:sp>
      <p:sp>
        <p:nvSpPr>
          <p:cNvPr name="TextBox 4" id="4"/>
          <p:cNvSpPr txBox="true"/>
          <p:nvPr/>
        </p:nvSpPr>
        <p:spPr>
          <a:xfrm rot="0">
            <a:off x="1028700" y="9117965"/>
            <a:ext cx="975113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Source: http://www.ijser.org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6577265" y="2574554"/>
            <a:ext cx="4706042" cy="5579462"/>
          </a:xfrm>
          <a:custGeom>
            <a:avLst/>
            <a:gdLst/>
            <a:ahLst/>
            <a:cxnLst/>
            <a:rect r="r" b="b" t="t" l="l"/>
            <a:pathLst>
              <a:path h="5579462" w="4706042">
                <a:moveTo>
                  <a:pt x="0" y="0"/>
                </a:moveTo>
                <a:lnTo>
                  <a:pt x="4706042" y="0"/>
                </a:lnTo>
                <a:lnTo>
                  <a:pt x="4706042" y="5579462"/>
                </a:lnTo>
                <a:lnTo>
                  <a:pt x="0" y="5579462"/>
                </a:lnTo>
                <a:lnTo>
                  <a:pt x="0" y="0"/>
                </a:lnTo>
                <a:close/>
              </a:path>
            </a:pathLst>
          </a:custGeom>
          <a:blipFill>
            <a:blip r:embed="rId2"/>
            <a:stretch>
              <a:fillRect l="0" t="0" r="0" b="0"/>
            </a:stretch>
          </a:blipFill>
        </p:spPr>
      </p:sp>
      <p:sp>
        <p:nvSpPr>
          <p:cNvPr name="TextBox 3" id="3"/>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Methodology</a:t>
            </a:r>
          </a:p>
        </p:txBody>
      </p:sp>
      <p:sp>
        <p:nvSpPr>
          <p:cNvPr name="TextBox 4" id="4"/>
          <p:cNvSpPr txBox="true"/>
          <p:nvPr/>
        </p:nvSpPr>
        <p:spPr>
          <a:xfrm rot="0">
            <a:off x="1028700" y="9117965"/>
            <a:ext cx="975113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Source: http://www.ijser.org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5690917" y="4656247"/>
            <a:ext cx="6478737" cy="2325356"/>
          </a:xfrm>
          <a:custGeom>
            <a:avLst/>
            <a:gdLst/>
            <a:ahLst/>
            <a:cxnLst/>
            <a:rect r="r" b="b" t="t" l="l"/>
            <a:pathLst>
              <a:path h="2325356" w="6478737">
                <a:moveTo>
                  <a:pt x="0" y="0"/>
                </a:moveTo>
                <a:lnTo>
                  <a:pt x="6478737" y="0"/>
                </a:lnTo>
                <a:lnTo>
                  <a:pt x="6478737" y="2325356"/>
                </a:lnTo>
                <a:lnTo>
                  <a:pt x="0" y="2325356"/>
                </a:lnTo>
                <a:lnTo>
                  <a:pt x="0" y="0"/>
                </a:lnTo>
                <a:close/>
              </a:path>
            </a:pathLst>
          </a:custGeom>
          <a:blipFill>
            <a:blip r:embed="rId2"/>
            <a:stretch>
              <a:fillRect l="0" t="0" r="0" b="0"/>
            </a:stretch>
          </a:blipFill>
        </p:spPr>
      </p:sp>
      <p:sp>
        <p:nvSpPr>
          <p:cNvPr name="TextBox 3" id="3"/>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Data Collection</a:t>
            </a:r>
          </a:p>
        </p:txBody>
      </p:sp>
      <p:sp>
        <p:nvSpPr>
          <p:cNvPr name="TextBox 4" id="4"/>
          <p:cNvSpPr txBox="true"/>
          <p:nvPr/>
        </p:nvSpPr>
        <p:spPr>
          <a:xfrm rot="0">
            <a:off x="1028700" y="2635386"/>
            <a:ext cx="16230600" cy="129349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Three samples of blood are taken on a slide, each mixed with </a:t>
            </a:r>
            <a:r>
              <a:rPr lang="en-US" sz="2300">
                <a:solidFill>
                  <a:srgbClr val="0D3330"/>
                </a:solidFill>
                <a:latin typeface="Muli"/>
                <a:ea typeface="Muli"/>
                <a:cs typeface="Muli"/>
                <a:sym typeface="Muli"/>
              </a:rPr>
              <a:t>reagent anti-A, anti-B, anti-D respectively and images of slide are taken. These images are digital images stored in JPEG format and they are pre-processed using colour plane extraction.</a:t>
            </a:r>
          </a:p>
        </p:txBody>
      </p:sp>
      <p:sp>
        <p:nvSpPr>
          <p:cNvPr name="TextBox 5" id="5"/>
          <p:cNvSpPr txBox="true"/>
          <p:nvPr/>
        </p:nvSpPr>
        <p:spPr>
          <a:xfrm rot="0">
            <a:off x="1028700" y="9117965"/>
            <a:ext cx="975113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Source: http://www.ijser.org</a:t>
            </a:r>
          </a:p>
        </p:txBody>
      </p:sp>
      <p:sp>
        <p:nvSpPr>
          <p:cNvPr name="TextBox 6" id="6"/>
          <p:cNvSpPr txBox="true"/>
          <p:nvPr/>
        </p:nvSpPr>
        <p:spPr>
          <a:xfrm rot="0">
            <a:off x="8434777" y="7207150"/>
            <a:ext cx="991018"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Input Image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5690917" y="5056195"/>
            <a:ext cx="6478737" cy="1925408"/>
          </a:xfrm>
          <a:custGeom>
            <a:avLst/>
            <a:gdLst/>
            <a:ahLst/>
            <a:cxnLst/>
            <a:rect r="r" b="b" t="t" l="l"/>
            <a:pathLst>
              <a:path h="1925408" w="6478737">
                <a:moveTo>
                  <a:pt x="0" y="0"/>
                </a:moveTo>
                <a:lnTo>
                  <a:pt x="6478737" y="0"/>
                </a:lnTo>
                <a:lnTo>
                  <a:pt x="6478737" y="1925408"/>
                </a:lnTo>
                <a:lnTo>
                  <a:pt x="0" y="1925408"/>
                </a:lnTo>
                <a:lnTo>
                  <a:pt x="0" y="0"/>
                </a:lnTo>
                <a:close/>
              </a:path>
            </a:pathLst>
          </a:custGeom>
          <a:blipFill>
            <a:blip r:embed="rId2"/>
            <a:stretch>
              <a:fillRect l="0" t="0" r="0" b="0"/>
            </a:stretch>
          </a:blipFill>
        </p:spPr>
      </p:sp>
      <p:sp>
        <p:nvSpPr>
          <p:cNvPr name="TextBox 3" id="3"/>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Color Plane Extraction</a:t>
            </a:r>
          </a:p>
        </p:txBody>
      </p:sp>
      <p:sp>
        <p:nvSpPr>
          <p:cNvPr name="TextBox 4" id="4"/>
          <p:cNvSpPr txBox="true"/>
          <p:nvPr/>
        </p:nvSpPr>
        <p:spPr>
          <a:xfrm rot="0">
            <a:off x="1028700" y="2635386"/>
            <a:ext cx="16230600" cy="129349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The colour plane contains colour information in images. </a:t>
            </a:r>
            <a:r>
              <a:rPr lang="en-US" sz="2300">
                <a:solidFill>
                  <a:srgbClr val="0D3330"/>
                </a:solidFill>
                <a:latin typeface="Muli"/>
                <a:ea typeface="Muli"/>
                <a:cs typeface="Muli"/>
                <a:sym typeface="Muli"/>
              </a:rPr>
              <a:t>‘Comparing’ sections in an image is the concept used in image</a:t>
            </a:r>
          </a:p>
          <a:p>
            <a:pPr algn="l">
              <a:lnSpc>
                <a:spcPts val="3450"/>
              </a:lnSpc>
            </a:pPr>
            <a:r>
              <a:rPr lang="en-US" sz="2300">
                <a:solidFill>
                  <a:srgbClr val="0D3330"/>
                </a:solidFill>
                <a:latin typeface="Muli"/>
                <a:ea typeface="Muli"/>
                <a:cs typeface="Muli"/>
                <a:sym typeface="Muli"/>
              </a:rPr>
              <a:t>processing. Comparison in Gray scale involves simple scalar algebraic operators. In colour plane extraction, we first convert the RGB image in to a gray image and then filter the obtained result using median filtering.</a:t>
            </a:r>
          </a:p>
        </p:txBody>
      </p:sp>
      <p:sp>
        <p:nvSpPr>
          <p:cNvPr name="TextBox 5" id="5"/>
          <p:cNvSpPr txBox="true"/>
          <p:nvPr/>
        </p:nvSpPr>
        <p:spPr>
          <a:xfrm rot="0">
            <a:off x="1028700" y="9117965"/>
            <a:ext cx="975113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Source: http://www.ijser.org</a:t>
            </a:r>
          </a:p>
        </p:txBody>
      </p:sp>
      <p:sp>
        <p:nvSpPr>
          <p:cNvPr name="TextBox 6" id="6"/>
          <p:cNvSpPr txBox="true"/>
          <p:nvPr/>
        </p:nvSpPr>
        <p:spPr>
          <a:xfrm rot="0">
            <a:off x="8254688" y="7180796"/>
            <a:ext cx="177862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Pre-processed image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5953152" y="5143500"/>
            <a:ext cx="5954268" cy="2153892"/>
          </a:xfrm>
          <a:custGeom>
            <a:avLst/>
            <a:gdLst/>
            <a:ahLst/>
            <a:cxnLst/>
            <a:rect r="r" b="b" t="t" l="l"/>
            <a:pathLst>
              <a:path h="2153892" w="5954268">
                <a:moveTo>
                  <a:pt x="0" y="0"/>
                </a:moveTo>
                <a:lnTo>
                  <a:pt x="5954267" y="0"/>
                </a:lnTo>
                <a:lnTo>
                  <a:pt x="5954267" y="2153892"/>
                </a:lnTo>
                <a:lnTo>
                  <a:pt x="0" y="2153892"/>
                </a:lnTo>
                <a:lnTo>
                  <a:pt x="0" y="0"/>
                </a:lnTo>
                <a:close/>
              </a:path>
            </a:pathLst>
          </a:custGeom>
          <a:blipFill>
            <a:blip r:embed="rId2"/>
            <a:stretch>
              <a:fillRect l="0" t="0" r="0" b="0"/>
            </a:stretch>
          </a:blipFill>
        </p:spPr>
      </p:sp>
      <p:sp>
        <p:nvSpPr>
          <p:cNvPr name="TextBox 3" id="3"/>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Thresholding</a:t>
            </a:r>
          </a:p>
        </p:txBody>
      </p:sp>
      <p:sp>
        <p:nvSpPr>
          <p:cNvPr name="TextBox 4" id="4"/>
          <p:cNvSpPr txBox="true"/>
          <p:nvPr/>
        </p:nvSpPr>
        <p:spPr>
          <a:xfrm rot="0">
            <a:off x="1028700" y="2635386"/>
            <a:ext cx="16230600" cy="173164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Thresholding operation in image processing is used to create </a:t>
            </a:r>
            <a:r>
              <a:rPr lang="en-US" sz="2300">
                <a:solidFill>
                  <a:srgbClr val="0D3330"/>
                </a:solidFill>
                <a:latin typeface="Muli"/>
                <a:ea typeface="Muli"/>
                <a:cs typeface="Muli"/>
                <a:sym typeface="Muli"/>
              </a:rPr>
              <a:t>binary images. The gray scale samples are clustered into two parts as background and object. In this case, multilevel thresholding is performed using Otsu’s method. More than one threshold are determined for a given image and segmentation is done creating certain regions. One background with many objects is the result of this multilevel thresholding. It is a clustering-based image thresholding.</a:t>
            </a:r>
          </a:p>
        </p:txBody>
      </p:sp>
      <p:sp>
        <p:nvSpPr>
          <p:cNvPr name="TextBox 5" id="5"/>
          <p:cNvSpPr txBox="true"/>
          <p:nvPr/>
        </p:nvSpPr>
        <p:spPr>
          <a:xfrm rot="0">
            <a:off x="1028700" y="9117965"/>
            <a:ext cx="975113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Source: http://www.ijser.org</a:t>
            </a:r>
          </a:p>
        </p:txBody>
      </p:sp>
      <p:sp>
        <p:nvSpPr>
          <p:cNvPr name="TextBox 6" id="6"/>
          <p:cNvSpPr txBox="true"/>
          <p:nvPr/>
        </p:nvSpPr>
        <p:spPr>
          <a:xfrm rot="0">
            <a:off x="8121341" y="7678392"/>
            <a:ext cx="1617889"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Thresholded Image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1387868" y="5387982"/>
            <a:ext cx="7421606" cy="2317528"/>
          </a:xfrm>
          <a:custGeom>
            <a:avLst/>
            <a:gdLst/>
            <a:ahLst/>
            <a:cxnLst/>
            <a:rect r="r" b="b" t="t" l="l"/>
            <a:pathLst>
              <a:path h="2317528" w="7421606">
                <a:moveTo>
                  <a:pt x="0" y="0"/>
                </a:moveTo>
                <a:lnTo>
                  <a:pt x="7421606" y="0"/>
                </a:lnTo>
                <a:lnTo>
                  <a:pt x="7421606" y="2317527"/>
                </a:lnTo>
                <a:lnTo>
                  <a:pt x="0" y="2317527"/>
                </a:lnTo>
                <a:lnTo>
                  <a:pt x="0" y="0"/>
                </a:lnTo>
                <a:close/>
              </a:path>
            </a:pathLst>
          </a:custGeom>
          <a:blipFill>
            <a:blip r:embed="rId2"/>
            <a:stretch>
              <a:fillRect l="0" t="0" r="0" b="0"/>
            </a:stretch>
          </a:blipFill>
        </p:spPr>
      </p:sp>
      <p:sp>
        <p:nvSpPr>
          <p:cNvPr name="Freeform 3" id="3"/>
          <p:cNvSpPr/>
          <p:nvPr/>
        </p:nvSpPr>
        <p:spPr>
          <a:xfrm flipH="false" flipV="false" rot="0">
            <a:off x="9348199" y="5387982"/>
            <a:ext cx="7108821" cy="2317528"/>
          </a:xfrm>
          <a:custGeom>
            <a:avLst/>
            <a:gdLst/>
            <a:ahLst/>
            <a:cxnLst/>
            <a:rect r="r" b="b" t="t" l="l"/>
            <a:pathLst>
              <a:path h="2317528" w="7108821">
                <a:moveTo>
                  <a:pt x="0" y="0"/>
                </a:moveTo>
                <a:lnTo>
                  <a:pt x="7108821" y="0"/>
                </a:lnTo>
                <a:lnTo>
                  <a:pt x="7108821" y="2317527"/>
                </a:lnTo>
                <a:lnTo>
                  <a:pt x="0" y="2317527"/>
                </a:lnTo>
                <a:lnTo>
                  <a:pt x="0" y="0"/>
                </a:lnTo>
                <a:close/>
              </a:path>
            </a:pathLst>
          </a:custGeom>
          <a:blipFill>
            <a:blip r:embed="rId3"/>
            <a:stretch>
              <a:fillRect l="0" t="0" r="0" b="0"/>
            </a:stretch>
          </a:blipFill>
        </p:spPr>
      </p:sp>
      <p:sp>
        <p:nvSpPr>
          <p:cNvPr name="TextBox 4" id="4"/>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Morphological Operations</a:t>
            </a:r>
          </a:p>
        </p:txBody>
      </p:sp>
      <p:sp>
        <p:nvSpPr>
          <p:cNvPr name="TextBox 5" id="5"/>
          <p:cNvSpPr txBox="true"/>
          <p:nvPr/>
        </p:nvSpPr>
        <p:spPr>
          <a:xfrm rot="0">
            <a:off x="1028700" y="2635386"/>
            <a:ext cx="16230600" cy="216979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Morphology is a tool of extracting image components that are </a:t>
            </a:r>
            <a:r>
              <a:rPr lang="en-US" sz="2300">
                <a:solidFill>
                  <a:srgbClr val="0D3330"/>
                </a:solidFill>
                <a:latin typeface="Muli"/>
                <a:ea typeface="Muli"/>
                <a:cs typeface="Muli"/>
                <a:sym typeface="Muli"/>
              </a:rPr>
              <a:t>useful in the representation. In morphological operation, there are two fundamental operations such as dilation and erosion, in terms of the union of an image with translated shape called a structuring element. Here, closing operation is performed where dilation is followed by erosion. Also, edge detection using Canny edge detection technique is performed. Morphological operations are used to eliminate noise spikes and ragged edges. </a:t>
            </a:r>
          </a:p>
        </p:txBody>
      </p:sp>
      <p:sp>
        <p:nvSpPr>
          <p:cNvPr name="TextBox 6" id="6"/>
          <p:cNvSpPr txBox="true"/>
          <p:nvPr/>
        </p:nvSpPr>
        <p:spPr>
          <a:xfrm rot="0">
            <a:off x="1028700" y="9117965"/>
            <a:ext cx="975113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Source: http://www.ijser.org</a:t>
            </a:r>
          </a:p>
        </p:txBody>
      </p:sp>
      <p:sp>
        <p:nvSpPr>
          <p:cNvPr name="TextBox 7" id="7"/>
          <p:cNvSpPr txBox="true"/>
          <p:nvPr/>
        </p:nvSpPr>
        <p:spPr>
          <a:xfrm rot="0">
            <a:off x="4226806" y="7855887"/>
            <a:ext cx="1505374"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Segmented image</a:t>
            </a:r>
          </a:p>
        </p:txBody>
      </p:sp>
      <p:sp>
        <p:nvSpPr>
          <p:cNvPr name="TextBox 8" id="8"/>
          <p:cNvSpPr txBox="true"/>
          <p:nvPr/>
        </p:nvSpPr>
        <p:spPr>
          <a:xfrm rot="0">
            <a:off x="12286549" y="7753653"/>
            <a:ext cx="1232122"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Edge detection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5328154" y="4641190"/>
            <a:ext cx="7403969" cy="2158914"/>
          </a:xfrm>
          <a:custGeom>
            <a:avLst/>
            <a:gdLst/>
            <a:ahLst/>
            <a:cxnLst/>
            <a:rect r="r" b="b" t="t" l="l"/>
            <a:pathLst>
              <a:path h="2158914" w="7403969">
                <a:moveTo>
                  <a:pt x="0" y="0"/>
                </a:moveTo>
                <a:lnTo>
                  <a:pt x="7403969" y="0"/>
                </a:lnTo>
                <a:lnTo>
                  <a:pt x="7403969" y="2158914"/>
                </a:lnTo>
                <a:lnTo>
                  <a:pt x="0" y="2158914"/>
                </a:lnTo>
                <a:lnTo>
                  <a:pt x="0" y="0"/>
                </a:lnTo>
                <a:close/>
              </a:path>
            </a:pathLst>
          </a:custGeom>
          <a:blipFill>
            <a:blip r:embed="rId2"/>
            <a:stretch>
              <a:fillRect l="0" t="0" r="0" b="0"/>
            </a:stretch>
          </a:blipFill>
        </p:spPr>
      </p:sp>
      <p:sp>
        <p:nvSpPr>
          <p:cNvPr name="TextBox 3" id="3"/>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HSL Plane</a:t>
            </a:r>
          </a:p>
        </p:txBody>
      </p:sp>
      <p:sp>
        <p:nvSpPr>
          <p:cNvPr name="TextBox 4" id="4"/>
          <p:cNvSpPr txBox="true"/>
          <p:nvPr/>
        </p:nvSpPr>
        <p:spPr>
          <a:xfrm rot="0">
            <a:off x="1028700" y="2635386"/>
            <a:ext cx="16230600" cy="129349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HSL plane stands for Hue, Saturation and Luminance. It is the </a:t>
            </a:r>
            <a:r>
              <a:rPr lang="en-US" sz="2300">
                <a:solidFill>
                  <a:srgbClr val="0D3330"/>
                </a:solidFill>
                <a:latin typeface="Muli"/>
                <a:ea typeface="Muli"/>
                <a:cs typeface="Muli"/>
                <a:sym typeface="Muli"/>
              </a:rPr>
              <a:t>representation of RGB color model. Hue is expressed in a</a:t>
            </a:r>
          </a:p>
          <a:p>
            <a:pPr algn="l">
              <a:lnSpc>
                <a:spcPts val="3450"/>
              </a:lnSpc>
            </a:pPr>
            <a:r>
              <a:rPr lang="en-US" sz="2300">
                <a:solidFill>
                  <a:srgbClr val="0D3330"/>
                </a:solidFill>
                <a:latin typeface="Muli"/>
                <a:ea typeface="Muli"/>
                <a:cs typeface="Muli"/>
                <a:sym typeface="Muli"/>
              </a:rPr>
              <a:t>degree around a color wheel, while saturation and brightness are set as a percentage. Figure 8 shows the result of HSL plane.</a:t>
            </a:r>
          </a:p>
        </p:txBody>
      </p:sp>
      <p:sp>
        <p:nvSpPr>
          <p:cNvPr name="TextBox 5" id="5"/>
          <p:cNvSpPr txBox="true"/>
          <p:nvPr/>
        </p:nvSpPr>
        <p:spPr>
          <a:xfrm rot="0">
            <a:off x="1028700" y="9117965"/>
            <a:ext cx="9751135"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Source: http://www.ijser.org</a:t>
            </a:r>
          </a:p>
        </p:txBody>
      </p:sp>
      <p:sp>
        <p:nvSpPr>
          <p:cNvPr name="TextBox 6" id="6"/>
          <p:cNvSpPr txBox="true"/>
          <p:nvPr/>
        </p:nvSpPr>
        <p:spPr>
          <a:xfrm rot="0">
            <a:off x="8574813" y="7181104"/>
            <a:ext cx="910650" cy="242570"/>
          </a:xfrm>
          <a:prstGeom prst="rect">
            <a:avLst/>
          </a:prstGeom>
        </p:spPr>
        <p:txBody>
          <a:bodyPr anchor="t" rtlCol="false" tIns="0" lIns="0" bIns="0" rIns="0">
            <a:spAutoFit/>
          </a:bodyPr>
          <a:lstStyle/>
          <a:p>
            <a:pPr algn="l">
              <a:lnSpc>
                <a:spcPts val="2170"/>
              </a:lnSpc>
            </a:pPr>
            <a:r>
              <a:rPr lang="en-US" sz="1400">
                <a:solidFill>
                  <a:srgbClr val="0D3330"/>
                </a:solidFill>
                <a:latin typeface="Muli"/>
                <a:ea typeface="Muli"/>
                <a:cs typeface="Muli"/>
                <a:sym typeface="Muli"/>
              </a:rPr>
              <a:t>HSL Plane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6F4EE"/>
        </a:solidFill>
      </p:bgPr>
    </p:bg>
    <p:spTree>
      <p:nvGrpSpPr>
        <p:cNvPr id="1" name=""/>
        <p:cNvGrpSpPr/>
        <p:nvPr/>
      </p:nvGrpSpPr>
      <p:grpSpPr>
        <a:xfrm>
          <a:off x="0" y="0"/>
          <a:ext cx="0" cy="0"/>
          <a:chOff x="0" y="0"/>
          <a:chExt cx="0" cy="0"/>
        </a:xfrm>
      </p:grpSpPr>
      <p:sp>
        <p:nvSpPr>
          <p:cNvPr name="TextBox 2" id="2"/>
          <p:cNvSpPr txBox="true"/>
          <p:nvPr/>
        </p:nvSpPr>
        <p:spPr>
          <a:xfrm rot="0">
            <a:off x="1028700" y="1485129"/>
            <a:ext cx="7901586"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Technologies Used</a:t>
            </a:r>
          </a:p>
        </p:txBody>
      </p:sp>
      <p:sp>
        <p:nvSpPr>
          <p:cNvPr name="TextBox 3" id="3"/>
          <p:cNvSpPr txBox="true"/>
          <p:nvPr/>
        </p:nvSpPr>
        <p:spPr>
          <a:xfrm rot="0">
            <a:off x="1028700" y="2635386"/>
            <a:ext cx="16230600" cy="85534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The below mentioned technologies will be used for the development of the ABO Blood Group Detection through Image Processing.</a:t>
            </a:r>
          </a:p>
        </p:txBody>
      </p:sp>
      <p:sp>
        <p:nvSpPr>
          <p:cNvPr name="TextBox 4" id="4"/>
          <p:cNvSpPr txBox="true"/>
          <p:nvPr/>
        </p:nvSpPr>
        <p:spPr>
          <a:xfrm rot="0">
            <a:off x="1028700" y="4773533"/>
            <a:ext cx="5111784" cy="2169795"/>
          </a:xfrm>
          <a:prstGeom prst="rect">
            <a:avLst/>
          </a:prstGeom>
        </p:spPr>
        <p:txBody>
          <a:bodyPr anchor="t" rtlCol="false" tIns="0" lIns="0" bIns="0" rIns="0">
            <a:spAutoFit/>
          </a:bodyPr>
          <a:lstStyle/>
          <a:p>
            <a:pPr algn="l" marL="496571" indent="-248285" lvl="1">
              <a:lnSpc>
                <a:spcPts val="3450"/>
              </a:lnSpc>
              <a:buFont typeface="Arial"/>
              <a:buChar char="•"/>
            </a:pPr>
            <a:r>
              <a:rPr lang="en-US" sz="2300">
                <a:solidFill>
                  <a:srgbClr val="0D3330"/>
                </a:solidFill>
                <a:latin typeface="Muli"/>
                <a:ea typeface="Muli"/>
                <a:cs typeface="Muli"/>
                <a:sym typeface="Muli"/>
              </a:rPr>
              <a:t>HTML</a:t>
            </a:r>
          </a:p>
          <a:p>
            <a:pPr algn="l" marL="496571" indent="-248285" lvl="1">
              <a:lnSpc>
                <a:spcPts val="3450"/>
              </a:lnSpc>
              <a:buFont typeface="Arial"/>
              <a:buChar char="•"/>
            </a:pPr>
            <a:r>
              <a:rPr lang="en-US" sz="2300">
                <a:solidFill>
                  <a:srgbClr val="0D3330"/>
                </a:solidFill>
                <a:latin typeface="Muli"/>
                <a:ea typeface="Muli"/>
                <a:cs typeface="Muli"/>
                <a:sym typeface="Muli"/>
              </a:rPr>
              <a:t>CSS</a:t>
            </a:r>
          </a:p>
          <a:p>
            <a:pPr algn="l" marL="496571" indent="-248285" lvl="1">
              <a:lnSpc>
                <a:spcPts val="3450"/>
              </a:lnSpc>
              <a:buFont typeface="Arial"/>
              <a:buChar char="•"/>
            </a:pPr>
            <a:r>
              <a:rPr lang="en-US" sz="2300">
                <a:solidFill>
                  <a:srgbClr val="0D3330"/>
                </a:solidFill>
                <a:latin typeface="Muli"/>
                <a:ea typeface="Muli"/>
                <a:cs typeface="Muli"/>
                <a:sym typeface="Muli"/>
              </a:rPr>
              <a:t>Javascript</a:t>
            </a:r>
          </a:p>
          <a:p>
            <a:pPr algn="l" marL="496571" indent="-248285" lvl="1">
              <a:lnSpc>
                <a:spcPts val="3450"/>
              </a:lnSpc>
              <a:buFont typeface="Arial"/>
              <a:buChar char="•"/>
            </a:pPr>
            <a:r>
              <a:rPr lang="en-US" sz="2300">
                <a:solidFill>
                  <a:srgbClr val="0D3330"/>
                </a:solidFill>
                <a:latin typeface="Muli"/>
                <a:ea typeface="Muli"/>
                <a:cs typeface="Muli"/>
                <a:sym typeface="Muli"/>
              </a:rPr>
              <a:t>UI/UX</a:t>
            </a:r>
          </a:p>
          <a:p>
            <a:pPr algn="l" marL="496571" indent="-248285" lvl="1">
              <a:lnSpc>
                <a:spcPts val="3450"/>
              </a:lnSpc>
              <a:buFont typeface="Arial"/>
              <a:buChar char="•"/>
            </a:pPr>
            <a:r>
              <a:rPr lang="en-US" sz="2300">
                <a:solidFill>
                  <a:srgbClr val="0D3330"/>
                </a:solidFill>
                <a:latin typeface="Muli"/>
                <a:ea typeface="Muli"/>
                <a:cs typeface="Muli"/>
                <a:sym typeface="Muli"/>
              </a:rPr>
              <a:t>MATLAB</a:t>
            </a:r>
          </a:p>
        </p:txBody>
      </p:sp>
      <p:sp>
        <p:nvSpPr>
          <p:cNvPr name="TextBox 5" id="5"/>
          <p:cNvSpPr txBox="true"/>
          <p:nvPr/>
        </p:nvSpPr>
        <p:spPr>
          <a:xfrm rot="0">
            <a:off x="1028700" y="4243206"/>
            <a:ext cx="5111784" cy="389255"/>
          </a:xfrm>
          <a:prstGeom prst="rect">
            <a:avLst/>
          </a:prstGeom>
        </p:spPr>
        <p:txBody>
          <a:bodyPr anchor="t" rtlCol="false" tIns="0" lIns="0" bIns="0" rIns="0">
            <a:spAutoFit/>
          </a:bodyPr>
          <a:lstStyle/>
          <a:p>
            <a:pPr algn="l">
              <a:lnSpc>
                <a:spcPts val="3220"/>
              </a:lnSpc>
            </a:pPr>
            <a:r>
              <a:rPr lang="en-US" sz="2300" b="true">
                <a:solidFill>
                  <a:srgbClr val="0D3330"/>
                </a:solidFill>
                <a:latin typeface="Muli Semi-Bold"/>
                <a:ea typeface="Muli Semi-Bold"/>
                <a:cs typeface="Muli Semi-Bold"/>
                <a:sym typeface="Muli Semi-Bold"/>
              </a:rPr>
              <a:t>01. Front-End Technology</a:t>
            </a:r>
          </a:p>
        </p:txBody>
      </p:sp>
      <p:sp>
        <p:nvSpPr>
          <p:cNvPr name="TextBox 6" id="6"/>
          <p:cNvSpPr txBox="true"/>
          <p:nvPr/>
        </p:nvSpPr>
        <p:spPr>
          <a:xfrm rot="0">
            <a:off x="6588164" y="4243206"/>
            <a:ext cx="5111784" cy="389255"/>
          </a:xfrm>
          <a:prstGeom prst="rect">
            <a:avLst/>
          </a:prstGeom>
        </p:spPr>
        <p:txBody>
          <a:bodyPr anchor="t" rtlCol="false" tIns="0" lIns="0" bIns="0" rIns="0">
            <a:spAutoFit/>
          </a:bodyPr>
          <a:lstStyle/>
          <a:p>
            <a:pPr algn="l">
              <a:lnSpc>
                <a:spcPts val="3220"/>
              </a:lnSpc>
            </a:pPr>
            <a:r>
              <a:rPr lang="en-US" sz="2300" b="true">
                <a:solidFill>
                  <a:srgbClr val="0D3330"/>
                </a:solidFill>
                <a:latin typeface="Muli Semi-Bold"/>
                <a:ea typeface="Muli Semi-Bold"/>
                <a:cs typeface="Muli Semi-Bold"/>
                <a:sym typeface="Muli Semi-Bold"/>
              </a:rPr>
              <a:t>02. Back-End Technology</a:t>
            </a:r>
          </a:p>
        </p:txBody>
      </p:sp>
      <p:sp>
        <p:nvSpPr>
          <p:cNvPr name="TextBox 7" id="7"/>
          <p:cNvSpPr txBox="true"/>
          <p:nvPr/>
        </p:nvSpPr>
        <p:spPr>
          <a:xfrm rot="0">
            <a:off x="12147623" y="4243206"/>
            <a:ext cx="5111784" cy="389255"/>
          </a:xfrm>
          <a:prstGeom prst="rect">
            <a:avLst/>
          </a:prstGeom>
        </p:spPr>
        <p:txBody>
          <a:bodyPr anchor="t" rtlCol="false" tIns="0" lIns="0" bIns="0" rIns="0">
            <a:spAutoFit/>
          </a:bodyPr>
          <a:lstStyle/>
          <a:p>
            <a:pPr algn="l">
              <a:lnSpc>
                <a:spcPts val="3220"/>
              </a:lnSpc>
            </a:pPr>
            <a:r>
              <a:rPr lang="en-US" sz="2300" b="true">
                <a:solidFill>
                  <a:srgbClr val="0D3330"/>
                </a:solidFill>
                <a:latin typeface="Muli Semi-Bold"/>
                <a:ea typeface="Muli Semi-Bold"/>
                <a:cs typeface="Muli Semi-Bold"/>
                <a:sym typeface="Muli Semi-Bold"/>
              </a:rPr>
              <a:t>03. Machine Learning</a:t>
            </a:r>
          </a:p>
        </p:txBody>
      </p:sp>
      <p:sp>
        <p:nvSpPr>
          <p:cNvPr name="TextBox 8" id="8"/>
          <p:cNvSpPr txBox="true"/>
          <p:nvPr/>
        </p:nvSpPr>
        <p:spPr>
          <a:xfrm rot="0">
            <a:off x="6588164" y="4773533"/>
            <a:ext cx="5111784" cy="1293495"/>
          </a:xfrm>
          <a:prstGeom prst="rect">
            <a:avLst/>
          </a:prstGeom>
        </p:spPr>
        <p:txBody>
          <a:bodyPr anchor="t" rtlCol="false" tIns="0" lIns="0" bIns="0" rIns="0">
            <a:spAutoFit/>
          </a:bodyPr>
          <a:lstStyle/>
          <a:p>
            <a:pPr algn="l" marL="496571" indent="-248285" lvl="1">
              <a:lnSpc>
                <a:spcPts val="3450"/>
              </a:lnSpc>
              <a:buFont typeface="Arial"/>
              <a:buChar char="•"/>
            </a:pPr>
            <a:r>
              <a:rPr lang="en-US" sz="2300">
                <a:solidFill>
                  <a:srgbClr val="0D3330"/>
                </a:solidFill>
                <a:latin typeface="Muli"/>
                <a:ea typeface="Muli"/>
                <a:cs typeface="Muli"/>
                <a:sym typeface="Muli"/>
              </a:rPr>
              <a:t>Javascript</a:t>
            </a:r>
          </a:p>
          <a:p>
            <a:pPr algn="l" marL="496571" indent="-248285" lvl="1">
              <a:lnSpc>
                <a:spcPts val="3450"/>
              </a:lnSpc>
              <a:buFont typeface="Arial"/>
              <a:buChar char="•"/>
            </a:pPr>
            <a:r>
              <a:rPr lang="en-US" sz="2300">
                <a:solidFill>
                  <a:srgbClr val="0D3330"/>
                </a:solidFill>
                <a:latin typeface="Muli"/>
                <a:ea typeface="Muli"/>
                <a:cs typeface="Muli"/>
                <a:sym typeface="Muli"/>
              </a:rPr>
              <a:t>Python</a:t>
            </a:r>
          </a:p>
          <a:p>
            <a:pPr algn="l" marL="496571" indent="-248285" lvl="1">
              <a:lnSpc>
                <a:spcPts val="3450"/>
              </a:lnSpc>
              <a:buFont typeface="Arial"/>
              <a:buChar char="•"/>
            </a:pPr>
            <a:r>
              <a:rPr lang="en-US" sz="2300">
                <a:solidFill>
                  <a:srgbClr val="0D3330"/>
                </a:solidFill>
                <a:latin typeface="Muli"/>
                <a:ea typeface="Muli"/>
                <a:cs typeface="Muli"/>
                <a:sym typeface="Muli"/>
              </a:rPr>
              <a:t>MATLAB</a:t>
            </a:r>
          </a:p>
        </p:txBody>
      </p:sp>
      <p:sp>
        <p:nvSpPr>
          <p:cNvPr name="TextBox 9" id="9"/>
          <p:cNvSpPr txBox="true"/>
          <p:nvPr/>
        </p:nvSpPr>
        <p:spPr>
          <a:xfrm rot="0">
            <a:off x="12147516" y="4773533"/>
            <a:ext cx="5111784" cy="1293495"/>
          </a:xfrm>
          <a:prstGeom prst="rect">
            <a:avLst/>
          </a:prstGeom>
        </p:spPr>
        <p:txBody>
          <a:bodyPr anchor="t" rtlCol="false" tIns="0" lIns="0" bIns="0" rIns="0">
            <a:spAutoFit/>
          </a:bodyPr>
          <a:lstStyle/>
          <a:p>
            <a:pPr algn="l" marL="496571" indent="-248285" lvl="1">
              <a:lnSpc>
                <a:spcPts val="3450"/>
              </a:lnSpc>
              <a:buFont typeface="Arial"/>
              <a:buChar char="•"/>
            </a:pPr>
            <a:r>
              <a:rPr lang="en-US" sz="2300">
                <a:solidFill>
                  <a:srgbClr val="0D3330"/>
                </a:solidFill>
                <a:latin typeface="Muli"/>
                <a:ea typeface="Muli"/>
                <a:cs typeface="Muli"/>
                <a:sym typeface="Muli"/>
              </a:rPr>
              <a:t>Image Learning Techniques</a:t>
            </a:r>
          </a:p>
          <a:p>
            <a:pPr algn="l" marL="496571" indent="-248285" lvl="1">
              <a:lnSpc>
                <a:spcPts val="3450"/>
              </a:lnSpc>
              <a:buFont typeface="Arial"/>
              <a:buChar char="•"/>
            </a:pPr>
            <a:r>
              <a:rPr lang="en-US" sz="2300">
                <a:solidFill>
                  <a:srgbClr val="0D3330"/>
                </a:solidFill>
                <a:latin typeface="Muli"/>
                <a:ea typeface="Muli"/>
                <a:cs typeface="Muli"/>
                <a:sym typeface="Muli"/>
              </a:rPr>
              <a:t>Mathematical Expressions for Quantification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2935556" y="3905597"/>
            <a:ext cx="1429090" cy="2284882"/>
          </a:xfrm>
          <a:custGeom>
            <a:avLst/>
            <a:gdLst/>
            <a:ahLst/>
            <a:cxnLst/>
            <a:rect r="r" b="b" t="t" l="l"/>
            <a:pathLst>
              <a:path h="2284882" w="1429090">
                <a:moveTo>
                  <a:pt x="0" y="0"/>
                </a:moveTo>
                <a:lnTo>
                  <a:pt x="1429090" y="0"/>
                </a:lnTo>
                <a:lnTo>
                  <a:pt x="1429090" y="2284882"/>
                </a:lnTo>
                <a:lnTo>
                  <a:pt x="0" y="22848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612821" y="4093652"/>
            <a:ext cx="2046708" cy="1856922"/>
          </a:xfrm>
          <a:custGeom>
            <a:avLst/>
            <a:gdLst/>
            <a:ahLst/>
            <a:cxnLst/>
            <a:rect r="r" b="b" t="t" l="l"/>
            <a:pathLst>
              <a:path h="1856922" w="2046708">
                <a:moveTo>
                  <a:pt x="0" y="0"/>
                </a:moveTo>
                <a:lnTo>
                  <a:pt x="2046708" y="0"/>
                </a:lnTo>
                <a:lnTo>
                  <a:pt x="2046708" y="1856922"/>
                </a:lnTo>
                <a:lnTo>
                  <a:pt x="0" y="18569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6976" y="6413705"/>
            <a:ext cx="5246249" cy="2607945"/>
          </a:xfrm>
          <a:prstGeom prst="rect">
            <a:avLst/>
          </a:prstGeom>
        </p:spPr>
        <p:txBody>
          <a:bodyPr anchor="t" rtlCol="false" tIns="0" lIns="0" bIns="0" rIns="0">
            <a:spAutoFit/>
          </a:bodyPr>
          <a:lstStyle/>
          <a:p>
            <a:pPr algn="ctr">
              <a:lnSpc>
                <a:spcPts val="3450"/>
              </a:lnSpc>
            </a:pPr>
            <a:r>
              <a:rPr lang="en-US" sz="2300">
                <a:solidFill>
                  <a:srgbClr val="0D3330"/>
                </a:solidFill>
                <a:latin typeface="Muli"/>
                <a:ea typeface="Muli"/>
                <a:cs typeface="Muli"/>
                <a:sym typeface="Muli"/>
              </a:rPr>
              <a:t>Automated systems can classify blood types quickly (within seconds), significantly speeding up the process compared to traditional laboratory methods, which is crucial in emergency situations.</a:t>
            </a:r>
          </a:p>
        </p:txBody>
      </p:sp>
      <p:sp>
        <p:nvSpPr>
          <p:cNvPr name="TextBox 5" id="5"/>
          <p:cNvSpPr txBox="true"/>
          <p:nvPr/>
        </p:nvSpPr>
        <p:spPr>
          <a:xfrm rot="0">
            <a:off x="6519152" y="6413705"/>
            <a:ext cx="5246249" cy="2607945"/>
          </a:xfrm>
          <a:prstGeom prst="rect">
            <a:avLst/>
          </a:prstGeom>
        </p:spPr>
        <p:txBody>
          <a:bodyPr anchor="t" rtlCol="false" tIns="0" lIns="0" bIns="0" rIns="0">
            <a:spAutoFit/>
          </a:bodyPr>
          <a:lstStyle/>
          <a:p>
            <a:pPr algn="ctr">
              <a:lnSpc>
                <a:spcPts val="3450"/>
              </a:lnSpc>
            </a:pPr>
            <a:r>
              <a:rPr lang="en-US" sz="2300">
                <a:solidFill>
                  <a:srgbClr val="0D3330"/>
                </a:solidFill>
                <a:latin typeface="Muli"/>
                <a:ea typeface="Muli"/>
                <a:cs typeface="Muli"/>
                <a:sym typeface="Muli"/>
              </a:rPr>
              <a:t>Once developed, the system can handle large numbers of samples with minimal human intervention, making it scalable for use in hospitals, labs, and blood banks while reducing labor costs and manual errors.</a:t>
            </a:r>
          </a:p>
        </p:txBody>
      </p:sp>
      <p:sp>
        <p:nvSpPr>
          <p:cNvPr name="TextBox 6" id="6"/>
          <p:cNvSpPr txBox="true"/>
          <p:nvPr/>
        </p:nvSpPr>
        <p:spPr>
          <a:xfrm rot="0">
            <a:off x="12013051" y="6413705"/>
            <a:ext cx="5246249" cy="2607945"/>
          </a:xfrm>
          <a:prstGeom prst="rect">
            <a:avLst/>
          </a:prstGeom>
        </p:spPr>
        <p:txBody>
          <a:bodyPr anchor="t" rtlCol="false" tIns="0" lIns="0" bIns="0" rIns="0">
            <a:spAutoFit/>
          </a:bodyPr>
          <a:lstStyle/>
          <a:p>
            <a:pPr algn="ctr">
              <a:lnSpc>
                <a:spcPts val="3450"/>
              </a:lnSpc>
            </a:pPr>
            <a:r>
              <a:rPr lang="en-US" sz="2300">
                <a:solidFill>
                  <a:srgbClr val="0D3330"/>
                </a:solidFill>
                <a:latin typeface="Muli"/>
                <a:ea typeface="Muli"/>
                <a:cs typeface="Muli"/>
                <a:sym typeface="Muli"/>
              </a:rPr>
              <a:t>Don't have to wait for your blood test report to arrive, as this system gives you instant blood group results. It analyzes samples in seconds, making the process faster and more efficient, especially during emergencies.</a:t>
            </a:r>
          </a:p>
        </p:txBody>
      </p:sp>
      <p:sp>
        <p:nvSpPr>
          <p:cNvPr name="TextBox 7" id="7"/>
          <p:cNvSpPr txBox="true"/>
          <p:nvPr/>
        </p:nvSpPr>
        <p:spPr>
          <a:xfrm rot="0">
            <a:off x="1028700" y="1485129"/>
            <a:ext cx="16230600"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Benefits of this Project</a:t>
            </a:r>
          </a:p>
        </p:txBody>
      </p:sp>
      <p:sp>
        <p:nvSpPr>
          <p:cNvPr name="TextBox 8" id="8"/>
          <p:cNvSpPr txBox="true"/>
          <p:nvPr/>
        </p:nvSpPr>
        <p:spPr>
          <a:xfrm rot="0">
            <a:off x="1028700" y="2635386"/>
            <a:ext cx="16230600" cy="41719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Accurate job analysis is crucial for effective recruitment. Our policy emphasises:</a:t>
            </a:r>
          </a:p>
        </p:txBody>
      </p:sp>
      <p:sp>
        <p:nvSpPr>
          <p:cNvPr name="Freeform 9" id="9"/>
          <p:cNvSpPr/>
          <p:nvPr/>
        </p:nvSpPr>
        <p:spPr>
          <a:xfrm flipH="false" flipV="false" rot="0">
            <a:off x="8224578" y="3853747"/>
            <a:ext cx="1835397" cy="2336732"/>
          </a:xfrm>
          <a:custGeom>
            <a:avLst/>
            <a:gdLst/>
            <a:ahLst/>
            <a:cxnLst/>
            <a:rect r="r" b="b" t="t" l="l"/>
            <a:pathLst>
              <a:path h="2336732" w="1835397">
                <a:moveTo>
                  <a:pt x="0" y="0"/>
                </a:moveTo>
                <a:lnTo>
                  <a:pt x="1835397" y="0"/>
                </a:lnTo>
                <a:lnTo>
                  <a:pt x="1835397" y="2336732"/>
                </a:lnTo>
                <a:lnTo>
                  <a:pt x="0" y="23367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8930286" y="322359"/>
            <a:ext cx="11854814" cy="12232922"/>
          </a:xfrm>
          <a:custGeom>
            <a:avLst/>
            <a:gdLst/>
            <a:ahLst/>
            <a:cxnLst/>
            <a:rect r="r" b="b" t="t" l="l"/>
            <a:pathLst>
              <a:path h="12232922" w="11854814">
                <a:moveTo>
                  <a:pt x="0" y="0"/>
                </a:moveTo>
                <a:lnTo>
                  <a:pt x="11854813" y="0"/>
                </a:lnTo>
                <a:lnTo>
                  <a:pt x="11854813" y="12232922"/>
                </a:lnTo>
                <a:lnTo>
                  <a:pt x="0" y="122329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485129"/>
            <a:ext cx="16230600" cy="800100"/>
          </a:xfrm>
          <a:prstGeom prst="rect">
            <a:avLst/>
          </a:prstGeom>
        </p:spPr>
        <p:txBody>
          <a:bodyPr anchor="t" rtlCol="false" tIns="0" lIns="0" bIns="0" rIns="0">
            <a:spAutoFit/>
          </a:bodyPr>
          <a:lstStyle/>
          <a:p>
            <a:pPr algn="l">
              <a:lnSpc>
                <a:spcPts val="6359"/>
              </a:lnSpc>
            </a:pPr>
            <a:r>
              <a:rPr lang="en-US" sz="5299">
                <a:solidFill>
                  <a:srgbClr val="0D3330"/>
                </a:solidFill>
                <a:latin typeface="Cooper BT Light"/>
                <a:ea typeface="Cooper BT Light"/>
                <a:cs typeface="Cooper BT Light"/>
                <a:sym typeface="Cooper BT Light"/>
              </a:rPr>
              <a:t>Conclusion</a:t>
            </a:r>
          </a:p>
        </p:txBody>
      </p:sp>
      <p:sp>
        <p:nvSpPr>
          <p:cNvPr name="TextBox 4" id="4"/>
          <p:cNvSpPr txBox="true"/>
          <p:nvPr/>
        </p:nvSpPr>
        <p:spPr>
          <a:xfrm rot="0">
            <a:off x="1028700" y="2635386"/>
            <a:ext cx="7901586" cy="3484245"/>
          </a:xfrm>
          <a:prstGeom prst="rect">
            <a:avLst/>
          </a:prstGeom>
        </p:spPr>
        <p:txBody>
          <a:bodyPr anchor="t" rtlCol="false" tIns="0" lIns="0" bIns="0" rIns="0">
            <a:spAutoFit/>
          </a:bodyPr>
          <a:lstStyle/>
          <a:p>
            <a:pPr algn="l">
              <a:lnSpc>
                <a:spcPts val="3450"/>
              </a:lnSpc>
            </a:pPr>
            <a:r>
              <a:rPr lang="en-US" sz="2300">
                <a:solidFill>
                  <a:srgbClr val="0D3330"/>
                </a:solidFill>
                <a:latin typeface="Muli"/>
                <a:ea typeface="Muli"/>
                <a:cs typeface="Muli"/>
                <a:sym typeface="Muli"/>
              </a:rPr>
              <a:t>The system is developed in a robust manner so that it is</a:t>
            </a:r>
          </a:p>
          <a:p>
            <a:pPr algn="l">
              <a:lnSpc>
                <a:spcPts val="3450"/>
              </a:lnSpc>
            </a:pPr>
            <a:r>
              <a:rPr lang="en-US" sz="2300">
                <a:solidFill>
                  <a:srgbClr val="0D3330"/>
                </a:solidFill>
                <a:latin typeface="Muli"/>
                <a:ea typeface="Muli"/>
                <a:cs typeface="Muli"/>
                <a:sym typeface="Muli"/>
              </a:rPr>
              <a:t>unaffected by the exceptional conditions. The software</a:t>
            </a:r>
          </a:p>
          <a:p>
            <a:pPr algn="l">
              <a:lnSpc>
                <a:spcPts val="3450"/>
              </a:lnSpc>
            </a:pPr>
            <a:r>
              <a:rPr lang="en-US" sz="2300">
                <a:solidFill>
                  <a:srgbClr val="0D3330"/>
                </a:solidFill>
                <a:latin typeface="Muli"/>
                <a:ea typeface="Muli"/>
                <a:cs typeface="Muli"/>
                <a:sym typeface="Muli"/>
              </a:rPr>
              <a:t>developed in image processing is efficient and it effectively</a:t>
            </a:r>
          </a:p>
          <a:p>
            <a:pPr algn="l">
              <a:lnSpc>
                <a:spcPts val="3450"/>
              </a:lnSpc>
            </a:pPr>
            <a:r>
              <a:rPr lang="en-US" sz="2300">
                <a:solidFill>
                  <a:srgbClr val="0D3330"/>
                </a:solidFill>
                <a:latin typeface="Muli"/>
                <a:ea typeface="Muli"/>
                <a:cs typeface="Muli"/>
                <a:sym typeface="Muli"/>
              </a:rPr>
              <a:t>detects the occurrence of agglutination and consequently the blood group of the patient in a short interval of time. The system would achieve high percentage of sensitivity and specificity which will be useful in determining the blood group in emergency situations.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4EE"/>
        </a:solidFill>
      </p:bgPr>
    </p:bg>
    <p:spTree>
      <p:nvGrpSpPr>
        <p:cNvPr id="1" name=""/>
        <p:cNvGrpSpPr/>
        <p:nvPr/>
      </p:nvGrpSpPr>
      <p:grpSpPr>
        <a:xfrm>
          <a:off x="0" y="0"/>
          <a:ext cx="0" cy="0"/>
          <a:chOff x="0" y="0"/>
          <a:chExt cx="0" cy="0"/>
        </a:xfrm>
      </p:grpSpPr>
      <p:sp>
        <p:nvSpPr>
          <p:cNvPr name="Freeform 2" id="2"/>
          <p:cNvSpPr/>
          <p:nvPr/>
        </p:nvSpPr>
        <p:spPr>
          <a:xfrm flipH="false" flipV="false" rot="0">
            <a:off x="0" y="-330045"/>
            <a:ext cx="18288000" cy="10783525"/>
          </a:xfrm>
          <a:custGeom>
            <a:avLst/>
            <a:gdLst/>
            <a:ahLst/>
            <a:cxnLst/>
            <a:rect r="r" b="b" t="t" l="l"/>
            <a:pathLst>
              <a:path h="10783525" w="18288000">
                <a:moveTo>
                  <a:pt x="0" y="0"/>
                </a:moveTo>
                <a:lnTo>
                  <a:pt x="18288000" y="0"/>
                </a:lnTo>
                <a:lnTo>
                  <a:pt x="18288000" y="10783525"/>
                </a:lnTo>
                <a:lnTo>
                  <a:pt x="0" y="10783525"/>
                </a:lnTo>
                <a:lnTo>
                  <a:pt x="0" y="0"/>
                </a:lnTo>
                <a:close/>
              </a:path>
            </a:pathLst>
          </a:custGeom>
          <a:blipFill>
            <a:blip r:embed="rId2">
              <a:extLst>
                <a:ext uri="{96DAC541-7B7A-43D3-8B79-37D633B846F1}">
                  <asvg:svgBlip xmlns:asvg="http://schemas.microsoft.com/office/drawing/2016/SVG/main" r:embed="rId3"/>
                </a:ext>
              </a:extLst>
            </a:blip>
            <a:stretch>
              <a:fillRect l="0" t="-34192" r="0" b="-35708"/>
            </a:stretch>
          </a:blipFill>
        </p:spPr>
      </p:sp>
      <p:sp>
        <p:nvSpPr>
          <p:cNvPr name="TextBox 3" id="3"/>
          <p:cNvSpPr txBox="true"/>
          <p:nvPr/>
        </p:nvSpPr>
        <p:spPr>
          <a:xfrm rot="0">
            <a:off x="3732186" y="4162425"/>
            <a:ext cx="10823628" cy="1962150"/>
          </a:xfrm>
          <a:prstGeom prst="rect">
            <a:avLst/>
          </a:prstGeom>
        </p:spPr>
        <p:txBody>
          <a:bodyPr anchor="t" rtlCol="false" tIns="0" lIns="0" bIns="0" rIns="0">
            <a:spAutoFit/>
          </a:bodyPr>
          <a:lstStyle/>
          <a:p>
            <a:pPr algn="ctr">
              <a:lnSpc>
                <a:spcPts val="15480"/>
              </a:lnSpc>
            </a:pPr>
            <a:r>
              <a:rPr lang="en-US" sz="12900">
                <a:solidFill>
                  <a:srgbClr val="0D3330"/>
                </a:solidFill>
                <a:latin typeface="Cooper BT Light"/>
                <a:ea typeface="Cooper BT Light"/>
                <a:cs typeface="Cooper BT Light"/>
                <a:sym typeface="Cooper BT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DAGTi7yszBI</dc:identifier>
  <dcterms:modified xsi:type="dcterms:W3CDTF">2011-08-01T06:04:30Z</dcterms:modified>
  <cp:revision>1</cp:revision>
  <dc:title>Company Presentation</dc:title>
</cp:coreProperties>
</file>